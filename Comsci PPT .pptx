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78" r:id="rId25"/>
    <p:sldId id="280" r:id="rId26"/>
  </p:sldIdLst>
  <p:sldSz cx="18288000" cy="10287000"/>
  <p:notesSz cx="6858000" cy="9144000"/>
  <p:embeddedFontLst>
    <p:embeddedFont>
      <p:font typeface="Noto Serif Ethiopic Condensed" panose="020B0604020202020204" charset="0"/>
      <p:regular r:id="rId28"/>
    </p:embeddedFont>
    <p:embeddedFont>
      <p:font typeface="Noto Serif Ethiopic Condensed Bold" panose="020B0604020202020204" charset="0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BCB2A-C2F6-4876-A781-771B169B92B0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9657C-811A-4BD1-8DDF-EE757E76CF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96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29657C-811A-4BD1-8DDF-EE757E76CF3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619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8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86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shade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shade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shade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6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8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3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13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5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8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400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4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3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10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26" y="0"/>
            <a:ext cx="18281074" cy="9639300"/>
          </a:xfrm>
          <a:custGeom>
            <a:avLst/>
            <a:gdLst/>
            <a:ahLst/>
            <a:cxnLst/>
            <a:rect l="l" t="t" r="r" b="b"/>
            <a:pathLst>
              <a:path w="18735263" h="10095839">
                <a:moveTo>
                  <a:pt x="0" y="0"/>
                </a:moveTo>
                <a:lnTo>
                  <a:pt x="18735264" y="0"/>
                </a:lnTo>
                <a:lnTo>
                  <a:pt x="18735264" y="10095839"/>
                </a:lnTo>
                <a:lnTo>
                  <a:pt x="0" y="10095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62" t="-696" r="-4262"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16002000" y="7277100"/>
            <a:ext cx="24106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Noto Serif Ethiopic Condensed Bold" panose="020B0604020202020204" charset="0"/>
              </a:rPr>
              <a:t>BY: V2S (SASTRA)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519027"/>
            <a:ext cx="18288001" cy="2036826"/>
            <a:chOff x="0" y="0"/>
            <a:chExt cx="4022315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2315" cy="419100"/>
            </a:xfrm>
            <a:custGeom>
              <a:avLst/>
              <a:gdLst/>
              <a:ahLst/>
              <a:cxnLst/>
              <a:rect l="l" t="t" r="r" b="b"/>
              <a:pathLst>
                <a:path w="4022315" h="419100">
                  <a:moveTo>
                    <a:pt x="7735" y="0"/>
                  </a:moveTo>
                  <a:lnTo>
                    <a:pt x="4014580" y="0"/>
                  </a:lnTo>
                  <a:cubicBezTo>
                    <a:pt x="4016632" y="0"/>
                    <a:pt x="4018599" y="815"/>
                    <a:pt x="4020050" y="2266"/>
                  </a:cubicBezTo>
                  <a:cubicBezTo>
                    <a:pt x="4021500" y="3716"/>
                    <a:pt x="4022315" y="5684"/>
                    <a:pt x="4022315" y="7735"/>
                  </a:cubicBezTo>
                  <a:lnTo>
                    <a:pt x="4022315" y="411365"/>
                  </a:lnTo>
                  <a:cubicBezTo>
                    <a:pt x="4022315" y="413416"/>
                    <a:pt x="4021500" y="415384"/>
                    <a:pt x="4020050" y="416834"/>
                  </a:cubicBezTo>
                  <a:cubicBezTo>
                    <a:pt x="4018599" y="418285"/>
                    <a:pt x="4016632" y="419100"/>
                    <a:pt x="4014580" y="419100"/>
                  </a:cubicBezTo>
                  <a:lnTo>
                    <a:pt x="7735" y="419100"/>
                  </a:lnTo>
                  <a:cubicBezTo>
                    <a:pt x="5684" y="419100"/>
                    <a:pt x="3716" y="418285"/>
                    <a:pt x="2266" y="416834"/>
                  </a:cubicBezTo>
                  <a:cubicBezTo>
                    <a:pt x="815" y="415384"/>
                    <a:pt x="0" y="413416"/>
                    <a:pt x="0" y="411365"/>
                  </a:cubicBezTo>
                  <a:lnTo>
                    <a:pt x="0" y="7735"/>
                  </a:lnTo>
                  <a:cubicBezTo>
                    <a:pt x="0" y="5684"/>
                    <a:pt x="815" y="3716"/>
                    <a:pt x="2266" y="2266"/>
                  </a:cubicBezTo>
                  <a:cubicBezTo>
                    <a:pt x="3716" y="815"/>
                    <a:pt x="5684" y="0"/>
                    <a:pt x="773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22315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4968" y="3069325"/>
            <a:ext cx="4986969" cy="6412620"/>
            <a:chOff x="0" y="0"/>
            <a:chExt cx="1313440" cy="16889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3440" cy="1688921"/>
            </a:xfrm>
            <a:custGeom>
              <a:avLst/>
              <a:gdLst/>
              <a:ahLst/>
              <a:cxnLst/>
              <a:rect l="l" t="t" r="r" b="b"/>
              <a:pathLst>
                <a:path w="1313440" h="1688921">
                  <a:moveTo>
                    <a:pt x="0" y="0"/>
                  </a:moveTo>
                  <a:lnTo>
                    <a:pt x="1313440" y="0"/>
                  </a:lnTo>
                  <a:lnTo>
                    <a:pt x="1313440" y="1688921"/>
                  </a:lnTo>
                  <a:lnTo>
                    <a:pt x="0" y="168892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13440" cy="1727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16979" y="3069325"/>
            <a:ext cx="5042877" cy="6412620"/>
            <a:chOff x="0" y="0"/>
            <a:chExt cx="1328165" cy="16889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8165" cy="1688921"/>
            </a:xfrm>
            <a:custGeom>
              <a:avLst/>
              <a:gdLst/>
              <a:ahLst/>
              <a:cxnLst/>
              <a:rect l="l" t="t" r="r" b="b"/>
              <a:pathLst>
                <a:path w="1328165" h="1688921">
                  <a:moveTo>
                    <a:pt x="0" y="0"/>
                  </a:moveTo>
                  <a:lnTo>
                    <a:pt x="1328165" y="0"/>
                  </a:lnTo>
                  <a:lnTo>
                    <a:pt x="1328165" y="1688921"/>
                  </a:lnTo>
                  <a:lnTo>
                    <a:pt x="0" y="168892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28165" cy="1727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69556" y="3069325"/>
            <a:ext cx="4874357" cy="6412620"/>
            <a:chOff x="0" y="0"/>
            <a:chExt cx="1283781" cy="16889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3781" cy="1688921"/>
            </a:xfrm>
            <a:custGeom>
              <a:avLst/>
              <a:gdLst/>
              <a:ahLst/>
              <a:cxnLst/>
              <a:rect l="l" t="t" r="r" b="b"/>
              <a:pathLst>
                <a:path w="1283781" h="1688921">
                  <a:moveTo>
                    <a:pt x="0" y="0"/>
                  </a:moveTo>
                  <a:lnTo>
                    <a:pt x="1283781" y="0"/>
                  </a:lnTo>
                  <a:lnTo>
                    <a:pt x="1283781" y="1688921"/>
                  </a:lnTo>
                  <a:lnTo>
                    <a:pt x="0" y="168892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83781" cy="1727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04968" y="3069325"/>
            <a:ext cx="4988036" cy="511377"/>
            <a:chOff x="0" y="0"/>
            <a:chExt cx="1313721" cy="1346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13721" cy="134684"/>
            </a:xfrm>
            <a:custGeom>
              <a:avLst/>
              <a:gdLst/>
              <a:ahLst/>
              <a:cxnLst/>
              <a:rect l="l" t="t" r="r" b="b"/>
              <a:pathLst>
                <a:path w="1313721" h="134684">
                  <a:moveTo>
                    <a:pt x="0" y="0"/>
                  </a:moveTo>
                  <a:lnTo>
                    <a:pt x="1313721" y="0"/>
                  </a:lnTo>
                  <a:lnTo>
                    <a:pt x="1313721" y="134684"/>
                  </a:lnTo>
                  <a:lnTo>
                    <a:pt x="0" y="134684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13721" cy="17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16979" y="3069325"/>
            <a:ext cx="5042877" cy="511377"/>
            <a:chOff x="0" y="0"/>
            <a:chExt cx="1328165" cy="1346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28165" cy="134684"/>
            </a:xfrm>
            <a:custGeom>
              <a:avLst/>
              <a:gdLst/>
              <a:ahLst/>
              <a:cxnLst/>
              <a:rect l="l" t="t" r="r" b="b"/>
              <a:pathLst>
                <a:path w="1328165" h="134684">
                  <a:moveTo>
                    <a:pt x="0" y="0"/>
                  </a:moveTo>
                  <a:lnTo>
                    <a:pt x="1328165" y="0"/>
                  </a:lnTo>
                  <a:lnTo>
                    <a:pt x="1328165" y="134684"/>
                  </a:lnTo>
                  <a:lnTo>
                    <a:pt x="0" y="134684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28165" cy="17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069556" y="3069325"/>
            <a:ext cx="4874357" cy="576991"/>
            <a:chOff x="0" y="0"/>
            <a:chExt cx="1283781" cy="1519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3781" cy="151965"/>
            </a:xfrm>
            <a:custGeom>
              <a:avLst/>
              <a:gdLst/>
              <a:ahLst/>
              <a:cxnLst/>
              <a:rect l="l" t="t" r="r" b="b"/>
              <a:pathLst>
                <a:path w="1283781" h="151965">
                  <a:moveTo>
                    <a:pt x="0" y="0"/>
                  </a:moveTo>
                  <a:lnTo>
                    <a:pt x="1283781" y="0"/>
                  </a:lnTo>
                  <a:lnTo>
                    <a:pt x="1283781" y="151965"/>
                  </a:lnTo>
                  <a:lnTo>
                    <a:pt x="0" y="151965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83781" cy="190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04968" y="668443"/>
            <a:ext cx="1828800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PROBLEM OVERVIEW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3923602"/>
            <a:ext cx="348857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78%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9502" y="5423471"/>
            <a:ext cx="4986969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of Indian college students &amp; first- time earners have zero financial training.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29897" y="3923602"/>
            <a:ext cx="348857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65M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72887" y="5423471"/>
            <a:ext cx="4986969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first time earners- interns, gig workers, fresh graduates- lack of personal financial advisors.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43217" y="3923602"/>
            <a:ext cx="348857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50325" y="5423471"/>
            <a:ext cx="4512819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exisitng tools reason about India- specific expenses like EMI’s, UPI spends and family remittances.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35447"/>
            <a:ext cx="18288000" cy="2023850"/>
            <a:chOff x="0" y="0"/>
            <a:chExt cx="5060881" cy="5330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60881" cy="533030"/>
            </a:xfrm>
            <a:custGeom>
              <a:avLst/>
              <a:gdLst/>
              <a:ahLst/>
              <a:cxnLst/>
              <a:rect l="l" t="t" r="r" b="b"/>
              <a:pathLst>
                <a:path w="5060881" h="533030">
                  <a:moveTo>
                    <a:pt x="0" y="0"/>
                  </a:moveTo>
                  <a:lnTo>
                    <a:pt x="5060881" y="0"/>
                  </a:lnTo>
                  <a:lnTo>
                    <a:pt x="5060881" y="533030"/>
                  </a:lnTo>
                  <a:lnTo>
                    <a:pt x="0" y="5330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60881" cy="571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2900" y="2744023"/>
            <a:ext cx="16230600" cy="1716356"/>
            <a:chOff x="0" y="0"/>
            <a:chExt cx="4274726" cy="452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452044"/>
            </a:xfrm>
            <a:custGeom>
              <a:avLst/>
              <a:gdLst/>
              <a:ahLst/>
              <a:cxnLst/>
              <a:rect l="l" t="t" r="r" b="b"/>
              <a:pathLst>
                <a:path w="4274726" h="452044">
                  <a:moveTo>
                    <a:pt x="0" y="0"/>
                  </a:moveTo>
                  <a:lnTo>
                    <a:pt x="4274726" y="0"/>
                  </a:lnTo>
                  <a:lnTo>
                    <a:pt x="4274726" y="452044"/>
                  </a:lnTo>
                  <a:lnTo>
                    <a:pt x="0" y="452044"/>
                  </a:lnTo>
                  <a:close/>
                </a:path>
              </a:pathLst>
            </a:custGeom>
            <a:solidFill>
              <a:srgbClr val="E2E2E2">
                <a:alpha val="73725"/>
              </a:srgbClr>
            </a:solidFill>
            <a:ln w="38100" cap="sq">
              <a:solidFill>
                <a:srgbClr val="FFFFFF">
                  <a:alpha val="73725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490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122900" y="2724973"/>
            <a:ext cx="16276159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122922" y="4422280"/>
            <a:ext cx="16276159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H="1" flipV="1">
            <a:off x="1141972" y="2744023"/>
            <a:ext cx="0" cy="171635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V="1">
            <a:off x="17372550" y="2705924"/>
            <a:ext cx="0" cy="171635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268957" y="4803280"/>
            <a:ext cx="7984184" cy="2331343"/>
            <a:chOff x="0" y="0"/>
            <a:chExt cx="2102830" cy="6140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02830" cy="614016"/>
            </a:xfrm>
            <a:custGeom>
              <a:avLst/>
              <a:gdLst/>
              <a:ahLst/>
              <a:cxnLst/>
              <a:rect l="l" t="t" r="r" b="b"/>
              <a:pathLst>
                <a:path w="2102830" h="614016">
                  <a:moveTo>
                    <a:pt x="0" y="0"/>
                  </a:moveTo>
                  <a:lnTo>
                    <a:pt x="2102830" y="0"/>
                  </a:lnTo>
                  <a:lnTo>
                    <a:pt x="2102830" y="614016"/>
                  </a:lnTo>
                  <a:lnTo>
                    <a:pt x="0" y="614016"/>
                  </a:lnTo>
                  <a:close/>
                </a:path>
              </a:pathLst>
            </a:custGeom>
            <a:solidFill>
              <a:srgbClr val="E2E2E2">
                <a:alpha val="73725"/>
              </a:srgbClr>
            </a:solidFill>
            <a:ln w="38100" cap="sq">
              <a:solidFill>
                <a:srgbClr val="FFFFFF">
                  <a:alpha val="73725"/>
                </a:srgbClr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02830" cy="652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60138" y="4803280"/>
            <a:ext cx="8737931" cy="2331343"/>
            <a:chOff x="0" y="0"/>
            <a:chExt cx="2301348" cy="6140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01348" cy="614016"/>
            </a:xfrm>
            <a:custGeom>
              <a:avLst/>
              <a:gdLst/>
              <a:ahLst/>
              <a:cxnLst/>
              <a:rect l="l" t="t" r="r" b="b"/>
              <a:pathLst>
                <a:path w="2301348" h="614016">
                  <a:moveTo>
                    <a:pt x="0" y="0"/>
                  </a:moveTo>
                  <a:lnTo>
                    <a:pt x="2301348" y="0"/>
                  </a:lnTo>
                  <a:lnTo>
                    <a:pt x="2301348" y="614016"/>
                  </a:lnTo>
                  <a:lnTo>
                    <a:pt x="0" y="614016"/>
                  </a:lnTo>
                  <a:close/>
                </a:path>
              </a:pathLst>
            </a:custGeom>
            <a:solidFill>
              <a:srgbClr val="E2E2E2">
                <a:alpha val="73725"/>
              </a:srgbClr>
            </a:solidFill>
            <a:ln w="38100" cap="sq">
              <a:solidFill>
                <a:srgbClr val="FFFFFF">
                  <a:alpha val="73725"/>
                </a:srgbClr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301348" cy="652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68957" y="7515623"/>
            <a:ext cx="7984184" cy="2331343"/>
            <a:chOff x="0" y="0"/>
            <a:chExt cx="2102830" cy="6140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02830" cy="614016"/>
            </a:xfrm>
            <a:custGeom>
              <a:avLst/>
              <a:gdLst/>
              <a:ahLst/>
              <a:cxnLst/>
              <a:rect l="l" t="t" r="r" b="b"/>
              <a:pathLst>
                <a:path w="2102830" h="614016">
                  <a:moveTo>
                    <a:pt x="0" y="0"/>
                  </a:moveTo>
                  <a:lnTo>
                    <a:pt x="2102830" y="0"/>
                  </a:lnTo>
                  <a:lnTo>
                    <a:pt x="2102830" y="614016"/>
                  </a:lnTo>
                  <a:lnTo>
                    <a:pt x="0" y="614016"/>
                  </a:lnTo>
                  <a:close/>
                </a:path>
              </a:pathLst>
            </a:custGeom>
            <a:solidFill>
              <a:srgbClr val="E2E2E2">
                <a:alpha val="73725"/>
              </a:srgbClr>
            </a:solidFill>
            <a:ln w="38100" cap="sq">
              <a:solidFill>
                <a:srgbClr val="FFFFFF">
                  <a:alpha val="73725"/>
                </a:srgbClr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02830" cy="652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60138" y="7477523"/>
            <a:ext cx="8737931" cy="2331343"/>
            <a:chOff x="0" y="0"/>
            <a:chExt cx="2301348" cy="61401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01348" cy="614016"/>
            </a:xfrm>
            <a:custGeom>
              <a:avLst/>
              <a:gdLst/>
              <a:ahLst/>
              <a:cxnLst/>
              <a:rect l="l" t="t" r="r" b="b"/>
              <a:pathLst>
                <a:path w="2301348" h="614016">
                  <a:moveTo>
                    <a:pt x="0" y="0"/>
                  </a:moveTo>
                  <a:lnTo>
                    <a:pt x="2301348" y="0"/>
                  </a:lnTo>
                  <a:lnTo>
                    <a:pt x="2301348" y="614016"/>
                  </a:lnTo>
                  <a:lnTo>
                    <a:pt x="0" y="614016"/>
                  </a:lnTo>
                  <a:close/>
                </a:path>
              </a:pathLst>
            </a:custGeom>
            <a:solidFill>
              <a:srgbClr val="E2E2E2">
                <a:alpha val="73725"/>
              </a:srgbClr>
            </a:solidFill>
            <a:ln w="38100" cap="sq">
              <a:solidFill>
                <a:srgbClr val="FFFFFF">
                  <a:alpha val="73725"/>
                </a:srgbClr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301348" cy="652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476447" y="4886642"/>
            <a:ext cx="1104506" cy="961924"/>
          </a:xfrm>
          <a:custGeom>
            <a:avLst/>
            <a:gdLst/>
            <a:ahLst/>
            <a:cxnLst/>
            <a:rect l="l" t="t" r="r" b="b"/>
            <a:pathLst>
              <a:path w="1104506" h="961924">
                <a:moveTo>
                  <a:pt x="0" y="0"/>
                </a:moveTo>
                <a:lnTo>
                  <a:pt x="1104506" y="0"/>
                </a:lnTo>
                <a:lnTo>
                  <a:pt x="1104506" y="961925"/>
                </a:lnTo>
                <a:lnTo>
                  <a:pt x="0" y="961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9529093" y="4886642"/>
            <a:ext cx="1152837" cy="821658"/>
          </a:xfrm>
          <a:custGeom>
            <a:avLst/>
            <a:gdLst/>
            <a:ahLst/>
            <a:cxnLst/>
            <a:rect l="l" t="t" r="r" b="b"/>
            <a:pathLst>
              <a:path w="1152837" h="821658">
                <a:moveTo>
                  <a:pt x="0" y="0"/>
                </a:moveTo>
                <a:lnTo>
                  <a:pt x="1152837" y="0"/>
                </a:lnTo>
                <a:lnTo>
                  <a:pt x="1152837" y="821659"/>
                </a:lnTo>
                <a:lnTo>
                  <a:pt x="0" y="821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412726" y="7525148"/>
            <a:ext cx="928820" cy="928820"/>
          </a:xfrm>
          <a:custGeom>
            <a:avLst/>
            <a:gdLst/>
            <a:ahLst/>
            <a:cxnLst/>
            <a:rect l="l" t="t" r="r" b="b"/>
            <a:pathLst>
              <a:path w="928820" h="928820">
                <a:moveTo>
                  <a:pt x="0" y="0"/>
                </a:moveTo>
                <a:lnTo>
                  <a:pt x="928820" y="0"/>
                </a:lnTo>
                <a:lnTo>
                  <a:pt x="928820" y="928820"/>
                </a:lnTo>
                <a:lnTo>
                  <a:pt x="0" y="928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922486" y="7515623"/>
            <a:ext cx="919543" cy="919543"/>
          </a:xfrm>
          <a:custGeom>
            <a:avLst/>
            <a:gdLst/>
            <a:ahLst/>
            <a:cxnLst/>
            <a:rect l="l" t="t" r="r" b="b"/>
            <a:pathLst>
              <a:path w="919543" h="919543">
                <a:moveTo>
                  <a:pt x="0" y="0"/>
                </a:moveTo>
                <a:lnTo>
                  <a:pt x="919543" y="0"/>
                </a:lnTo>
                <a:lnTo>
                  <a:pt x="919543" y="919543"/>
                </a:lnTo>
                <a:lnTo>
                  <a:pt x="0" y="9195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061894" y="478375"/>
            <a:ext cx="999648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CORE CHALLENGE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1546" y="2677348"/>
            <a:ext cx="16011954" cy="173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30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build a website were users can enter monthy income and spending. An LLM analyses pattern and flags unhealthy habits, along with conversational follow up (intiated by users) if needed.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52690" y="4819967"/>
            <a:ext cx="44184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Conversational AI coach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57881" y="4819967"/>
            <a:ext cx="329788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Spending analysis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440114" y="7544198"/>
            <a:ext cx="324356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Savings Roadmap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11373" y="7544198"/>
            <a:ext cx="224522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Report Card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8957" y="5902276"/>
            <a:ext cx="812378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LLM powered Q and A with persistent session context with multilingual interface.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36971" y="5902276"/>
            <a:ext cx="939402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8+ categories and pattern detection  and risk flagging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25752" y="8614620"/>
            <a:ext cx="421019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Goal-based saving plan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82282" y="8614620"/>
            <a:ext cx="509364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Health Score with grade A-F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57791"/>
            <a:ext cx="18288000" cy="1939988"/>
            <a:chOff x="0" y="0"/>
            <a:chExt cx="4816593" cy="5109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10943"/>
            </a:xfrm>
            <a:custGeom>
              <a:avLst/>
              <a:gdLst/>
              <a:ahLst/>
              <a:cxnLst/>
              <a:rect l="l" t="t" r="r" b="b"/>
              <a:pathLst>
                <a:path w="4816592" h="510943">
                  <a:moveTo>
                    <a:pt x="0" y="0"/>
                  </a:moveTo>
                  <a:lnTo>
                    <a:pt x="4816592" y="0"/>
                  </a:lnTo>
                  <a:lnTo>
                    <a:pt x="4816592" y="510943"/>
                  </a:lnTo>
                  <a:lnTo>
                    <a:pt x="0" y="5109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4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2775652"/>
            <a:ext cx="8565075" cy="1898214"/>
            <a:chOff x="0" y="0"/>
            <a:chExt cx="2255822" cy="4999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822" cy="499941"/>
            </a:xfrm>
            <a:custGeom>
              <a:avLst/>
              <a:gdLst/>
              <a:ahLst/>
              <a:cxnLst/>
              <a:rect l="l" t="t" r="r" b="b"/>
              <a:pathLst>
                <a:path w="2255822" h="499941">
                  <a:moveTo>
                    <a:pt x="0" y="0"/>
                  </a:moveTo>
                  <a:lnTo>
                    <a:pt x="2255822" y="0"/>
                  </a:lnTo>
                  <a:lnTo>
                    <a:pt x="2255822" y="499941"/>
                  </a:lnTo>
                  <a:lnTo>
                    <a:pt x="0" y="499941"/>
                  </a:lnTo>
                  <a:close/>
                </a:path>
              </a:pathLst>
            </a:custGeom>
            <a:solidFill>
              <a:srgbClr val="E2E2E2">
                <a:alpha val="81961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55822" cy="538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90791" y="458788"/>
            <a:ext cx="1206549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ENHANCED FEATURES</a:t>
            </a:r>
            <a:r>
              <a:rPr lang="en-US" sz="9200" b="1" dirty="0">
                <a:solidFill>
                  <a:srgbClr val="FFFFFF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22925" y="2775652"/>
            <a:ext cx="8565075" cy="1898214"/>
            <a:chOff x="0" y="0"/>
            <a:chExt cx="2255822" cy="499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5822" cy="499941"/>
            </a:xfrm>
            <a:custGeom>
              <a:avLst/>
              <a:gdLst/>
              <a:ahLst/>
              <a:cxnLst/>
              <a:rect l="l" t="t" r="r" b="b"/>
              <a:pathLst>
                <a:path w="2255822" h="499941">
                  <a:moveTo>
                    <a:pt x="0" y="0"/>
                  </a:moveTo>
                  <a:lnTo>
                    <a:pt x="2255822" y="0"/>
                  </a:lnTo>
                  <a:lnTo>
                    <a:pt x="2255822" y="499941"/>
                  </a:lnTo>
                  <a:lnTo>
                    <a:pt x="0" y="499941"/>
                  </a:lnTo>
                  <a:close/>
                </a:path>
              </a:pathLst>
            </a:custGeom>
            <a:solidFill>
              <a:srgbClr val="E2E2E2">
                <a:alpha val="81961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55822" cy="538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5176586"/>
            <a:ext cx="8565075" cy="1895710"/>
            <a:chOff x="0" y="0"/>
            <a:chExt cx="2255822" cy="4992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55822" cy="499282"/>
            </a:xfrm>
            <a:custGeom>
              <a:avLst/>
              <a:gdLst/>
              <a:ahLst/>
              <a:cxnLst/>
              <a:rect l="l" t="t" r="r" b="b"/>
              <a:pathLst>
                <a:path w="2255822" h="499282">
                  <a:moveTo>
                    <a:pt x="0" y="0"/>
                  </a:moveTo>
                  <a:lnTo>
                    <a:pt x="2255822" y="0"/>
                  </a:lnTo>
                  <a:lnTo>
                    <a:pt x="2255822" y="499282"/>
                  </a:lnTo>
                  <a:lnTo>
                    <a:pt x="0" y="499282"/>
                  </a:lnTo>
                  <a:close/>
                </a:path>
              </a:pathLst>
            </a:custGeom>
            <a:solidFill>
              <a:srgbClr val="E2E2E2">
                <a:alpha val="81961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55822" cy="537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861463" y="7838685"/>
            <a:ext cx="8565075" cy="1720312"/>
            <a:chOff x="0" y="0"/>
            <a:chExt cx="2255822" cy="45308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55822" cy="453086"/>
            </a:xfrm>
            <a:custGeom>
              <a:avLst/>
              <a:gdLst/>
              <a:ahLst/>
              <a:cxnLst/>
              <a:rect l="l" t="t" r="r" b="b"/>
              <a:pathLst>
                <a:path w="2255822" h="453086">
                  <a:moveTo>
                    <a:pt x="0" y="0"/>
                  </a:moveTo>
                  <a:lnTo>
                    <a:pt x="2255822" y="0"/>
                  </a:lnTo>
                  <a:lnTo>
                    <a:pt x="2255822" y="453086"/>
                  </a:lnTo>
                  <a:lnTo>
                    <a:pt x="0" y="453086"/>
                  </a:lnTo>
                  <a:close/>
                </a:path>
              </a:pathLst>
            </a:custGeom>
            <a:solidFill>
              <a:srgbClr val="E2E2E2">
                <a:alpha val="81961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55822" cy="491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07479" y="2579168"/>
            <a:ext cx="64591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7256" y="2699452"/>
            <a:ext cx="6705700" cy="665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8"/>
              </a:lnSpc>
            </a:pPr>
            <a:r>
              <a:rPr lang="en-US" sz="387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Spending personality quiz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7202" y="3418638"/>
            <a:ext cx="7725753" cy="100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sz="2923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Spender, Saver or impulsive buyer- customizes coaching tone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92177" y="2680402"/>
            <a:ext cx="64591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42891" y="2699452"/>
            <a:ext cx="6705700" cy="665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8"/>
              </a:lnSpc>
            </a:pPr>
            <a:r>
              <a:rPr lang="en-US" sz="387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Goal-Based Tracker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92177" y="3519872"/>
            <a:ext cx="7725753" cy="100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sz="2923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Sets a goal and gets a visual of week-by-week progress.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7202" y="5048250"/>
            <a:ext cx="64591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7256" y="5168534"/>
            <a:ext cx="6705700" cy="665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8"/>
              </a:lnSpc>
            </a:pPr>
            <a:r>
              <a:rPr lang="en-US" sz="387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Bad habit interventions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7202" y="5992495"/>
            <a:ext cx="7725753" cy="100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sz="2923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Detects repeated patterns across sessions &amp; sends push notifcations. 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722925" y="5176586"/>
            <a:ext cx="8565075" cy="1895710"/>
            <a:chOff x="0" y="0"/>
            <a:chExt cx="2255822" cy="49928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55822" cy="499282"/>
            </a:xfrm>
            <a:custGeom>
              <a:avLst/>
              <a:gdLst/>
              <a:ahLst/>
              <a:cxnLst/>
              <a:rect l="l" t="t" r="r" b="b"/>
              <a:pathLst>
                <a:path w="2255822" h="499282">
                  <a:moveTo>
                    <a:pt x="0" y="0"/>
                  </a:moveTo>
                  <a:lnTo>
                    <a:pt x="2255822" y="0"/>
                  </a:lnTo>
                  <a:lnTo>
                    <a:pt x="2255822" y="499282"/>
                  </a:lnTo>
                  <a:lnTo>
                    <a:pt x="0" y="499282"/>
                  </a:lnTo>
                  <a:close/>
                </a:path>
              </a:pathLst>
            </a:custGeom>
            <a:solidFill>
              <a:srgbClr val="E2E2E2">
                <a:alpha val="81961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255822" cy="537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922838" y="5992495"/>
            <a:ext cx="7725753" cy="100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sz="2923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LLM responses in English+ Hindi+ one regional language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12230" y="5269768"/>
            <a:ext cx="6705700" cy="665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8"/>
              </a:lnSpc>
            </a:pPr>
            <a:r>
              <a:rPr lang="en-US" sz="387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Multilingual support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92177" y="5149484"/>
            <a:ext cx="64591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1150" y="7848534"/>
            <a:ext cx="6705700" cy="665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8"/>
              </a:lnSpc>
            </a:pPr>
            <a:r>
              <a:rPr lang="en-US" sz="387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Monthly Report card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45236" y="7728250"/>
            <a:ext cx="64591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81123" y="8567720"/>
            <a:ext cx="7725753" cy="100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sz="2923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Auto-generated visual report with health score, grade and top 3 improvements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68009" y="2423794"/>
            <a:ext cx="4791291" cy="5995901"/>
            <a:chOff x="0" y="0"/>
            <a:chExt cx="1261904" cy="15791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1904" cy="1579167"/>
            </a:xfrm>
            <a:custGeom>
              <a:avLst/>
              <a:gdLst/>
              <a:ahLst/>
              <a:cxnLst/>
              <a:rect l="l" t="t" r="r" b="b"/>
              <a:pathLst>
                <a:path w="1261904" h="1579167">
                  <a:moveTo>
                    <a:pt x="54938" y="0"/>
                  </a:moveTo>
                  <a:lnTo>
                    <a:pt x="1206965" y="0"/>
                  </a:lnTo>
                  <a:cubicBezTo>
                    <a:pt x="1237307" y="0"/>
                    <a:pt x="1261904" y="24597"/>
                    <a:pt x="1261904" y="54938"/>
                  </a:cubicBezTo>
                  <a:lnTo>
                    <a:pt x="1261904" y="1524229"/>
                  </a:lnTo>
                  <a:cubicBezTo>
                    <a:pt x="1261904" y="1554571"/>
                    <a:pt x="1237307" y="1579167"/>
                    <a:pt x="1206965" y="1579167"/>
                  </a:cubicBezTo>
                  <a:lnTo>
                    <a:pt x="54938" y="1579167"/>
                  </a:lnTo>
                  <a:cubicBezTo>
                    <a:pt x="24597" y="1579167"/>
                    <a:pt x="0" y="1554571"/>
                    <a:pt x="0" y="1524229"/>
                  </a:cubicBezTo>
                  <a:lnTo>
                    <a:pt x="0" y="54938"/>
                  </a:lnTo>
                  <a:cubicBezTo>
                    <a:pt x="0" y="24597"/>
                    <a:pt x="24597" y="0"/>
                    <a:pt x="549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61904" cy="16172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0549" y="857250"/>
            <a:ext cx="443626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IMPACT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03303" y="3576956"/>
            <a:ext cx="4520703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65 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68009" y="5336020"/>
            <a:ext cx="4791291" cy="155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8"/>
              </a:lnSpc>
            </a:pPr>
            <a:r>
              <a:rPr lang="en-US" sz="4441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First-time earners impacted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0549" y="3130702"/>
            <a:ext cx="9987891" cy="59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Gives India’s 65 million first-time earners a personalized financial advisor- a service currently only affordable by the wealthy.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Noto Serif Ethiopic Condensed"/>
              <a:ea typeface="Noto Serif Ethiopic Condensed"/>
              <a:cs typeface="Noto Serif Ethiopic Condensed"/>
              <a:sym typeface="Noto Serif Ethiopic Condensed"/>
            </a:endParaRPr>
          </a:p>
          <a:p>
            <a:pPr algn="l">
              <a:lnSpc>
                <a:spcPts val="4759"/>
              </a:lnSpc>
            </a:pPr>
            <a:r>
              <a:rPr lang="en-US" sz="3399" u="sng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Reducing debt traps that derial young earners within the first two of their income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" y="0"/>
            <a:ext cx="18355898" cy="102870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 flipV="1">
            <a:off x="9372600" y="4229100"/>
            <a:ext cx="2971800" cy="175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10200" y="2857500"/>
            <a:ext cx="3962400" cy="1524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5753100" y="3142446"/>
            <a:ext cx="3276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Noto Serif Ethiopic Condensed Bold" panose="020B0604020202020204" charset="0"/>
              </a:rPr>
              <a:t>Click on this to get started</a:t>
            </a:r>
          </a:p>
        </p:txBody>
      </p:sp>
    </p:spTree>
    <p:extLst>
      <p:ext uri="{BB962C8B-B14F-4D97-AF65-F5344CB8AC3E}">
        <p14:creationId xmlns:p14="http://schemas.microsoft.com/office/powerpoint/2010/main" val="31561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86912" cy="102870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11811000" y="6134100"/>
            <a:ext cx="2362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173200" y="5562600"/>
            <a:ext cx="3505200" cy="1143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4173200" y="5841712"/>
            <a:ext cx="350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Noto Serif Ethiopic Condensed Bold" panose="020B0604020202020204" charset="0"/>
              </a:rPr>
              <a:t>Enter your name</a:t>
            </a:r>
          </a:p>
        </p:txBody>
      </p:sp>
    </p:spTree>
    <p:extLst>
      <p:ext uri="{BB962C8B-B14F-4D97-AF65-F5344CB8AC3E}">
        <p14:creationId xmlns:p14="http://schemas.microsoft.com/office/powerpoint/2010/main" val="100853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8288001" cy="102870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9829800" y="6819900"/>
            <a:ext cx="3886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716000" y="6515099"/>
            <a:ext cx="3886200" cy="12273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3681364" y="6665267"/>
            <a:ext cx="373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Noto Serif Ethiopic Condensed Bold" panose="020B0604020202020204" charset="0"/>
              </a:rPr>
              <a:t>Enter your Take-home pay </a:t>
            </a:r>
          </a:p>
        </p:txBody>
      </p:sp>
    </p:spTree>
    <p:extLst>
      <p:ext uri="{BB962C8B-B14F-4D97-AF65-F5344CB8AC3E}">
        <p14:creationId xmlns:p14="http://schemas.microsoft.com/office/powerpoint/2010/main" val="206036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6" y="0"/>
            <a:ext cx="18599650" cy="102870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6477000" y="3543300"/>
            <a:ext cx="784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325600" y="3314700"/>
            <a:ext cx="3733800" cy="1600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4325600" y="3543300"/>
            <a:ext cx="373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Noto Serif Ethiopic Condensed Bold" panose="020B0604020202020204" charset="0"/>
              </a:rPr>
              <a:t>Enter amounts to applicable category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63400" y="6819899"/>
            <a:ext cx="5029200" cy="14408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2192000" y="7048500"/>
            <a:ext cx="48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Noto Serif Ethiopic Condensed Bold" panose="020B0604020202020204" charset="0"/>
              </a:rPr>
              <a:t>Automatic expense calculation </a:t>
            </a:r>
          </a:p>
        </p:txBody>
      </p:sp>
      <p:cxnSp>
        <p:nvCxnSpPr>
          <p:cNvPr id="14" name="Curved Connector 13"/>
          <p:cNvCxnSpPr/>
          <p:nvPr/>
        </p:nvCxnSpPr>
        <p:spPr>
          <a:xfrm flipV="1">
            <a:off x="11049000" y="7540335"/>
            <a:ext cx="914400" cy="58538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6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245"/>
            <a:ext cx="18288000" cy="102870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V="1">
            <a:off x="7543800" y="6438900"/>
            <a:ext cx="61722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00" y="6210300"/>
            <a:ext cx="4038600" cy="1295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3695218" y="6210300"/>
            <a:ext cx="4038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Noto Serif Ethiopic Condensed Bold" panose="020B0604020202020204" charset="0"/>
              </a:rPr>
              <a:t>Add any excess income 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24200" y="7505700"/>
            <a:ext cx="16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33400" y="6972299"/>
            <a:ext cx="2590800" cy="23807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696191" y="7131639"/>
            <a:ext cx="2133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Noto Serif Ethiopic Condensed Bold" panose="020B0604020202020204" charset="0"/>
              </a:rPr>
              <a:t>Use calculator to do basic operations</a:t>
            </a:r>
          </a:p>
        </p:txBody>
      </p:sp>
    </p:spTree>
    <p:extLst>
      <p:ext uri="{BB962C8B-B14F-4D97-AF65-F5344CB8AC3E}">
        <p14:creationId xmlns:p14="http://schemas.microsoft.com/office/powerpoint/2010/main" val="75643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8323129" cy="104775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10287000" y="4305300"/>
            <a:ext cx="2667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106400" y="3619500"/>
            <a:ext cx="4114800" cy="134975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3106400" y="3892034"/>
            <a:ext cx="4114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Noto Serif Ethiopic Condensed Bold" panose="020B0604020202020204" charset="0"/>
              </a:rPr>
              <a:t>Choose appropriate option</a:t>
            </a:r>
          </a:p>
        </p:txBody>
      </p:sp>
    </p:spTree>
    <p:extLst>
      <p:ext uri="{BB962C8B-B14F-4D97-AF65-F5344CB8AC3E}">
        <p14:creationId xmlns:p14="http://schemas.microsoft.com/office/powerpoint/2010/main" val="344886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245"/>
            <a:ext cx="18381488" cy="1031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10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" y="0"/>
            <a:ext cx="1834158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31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55" y="17318"/>
            <a:ext cx="18301855" cy="10269682"/>
          </a:xfrm>
          <a:prstGeom prst="rect">
            <a:avLst/>
          </a:prstGeom>
        </p:spPr>
      </p:pic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8839200" y="1790700"/>
            <a:ext cx="5791200" cy="152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4630400" y="2171700"/>
            <a:ext cx="3048000" cy="18744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4820900" y="2628900"/>
            <a:ext cx="266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Noto Serif Ethiopic Condensed Bold" panose="020B0604020202020204" charset="0"/>
              </a:rPr>
              <a:t>The </a:t>
            </a:r>
            <a:r>
              <a:rPr lang="en-IN" sz="3200" dirty="0">
                <a:latin typeface="Noto Serif Ethiopic Condensed Bold" panose="020B0604020202020204" charset="0"/>
              </a:rPr>
              <a:t>dashboard</a:t>
            </a:r>
            <a:r>
              <a:rPr lang="en-IN" sz="3200" dirty="0">
                <a:solidFill>
                  <a:schemeClr val="bg1"/>
                </a:solidFill>
                <a:latin typeface="Noto Serif Ethiopic Condensed Bold" panose="020B0604020202020204" charset="0"/>
              </a:rPr>
              <a:t> opens </a:t>
            </a:r>
          </a:p>
        </p:txBody>
      </p:sp>
    </p:spTree>
    <p:extLst>
      <p:ext uri="{BB962C8B-B14F-4D97-AF65-F5344CB8AC3E}">
        <p14:creationId xmlns:p14="http://schemas.microsoft.com/office/powerpoint/2010/main" val="1246420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" y="3464"/>
            <a:ext cx="18281074" cy="102835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1FBB98-2AE7-0A24-A0B4-3930CFAF8306}"/>
              </a:ext>
            </a:extLst>
          </p:cNvPr>
          <p:cNvSpPr txBox="1"/>
          <p:nvPr/>
        </p:nvSpPr>
        <p:spPr>
          <a:xfrm>
            <a:off x="14935200" y="2933700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SHOWS INCOMES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4393E7-1C4B-A4D9-47FF-3B6C01B01331}"/>
              </a:ext>
            </a:extLst>
          </p:cNvPr>
          <p:cNvCxnSpPr/>
          <p:nvPr/>
        </p:nvCxnSpPr>
        <p:spPr>
          <a:xfrm flipH="1">
            <a:off x="12344400" y="3314700"/>
            <a:ext cx="2590800" cy="2514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725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8565414" cy="10287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9472E1-8A02-3361-5CB5-5FF9ACC512A3}"/>
              </a:ext>
            </a:extLst>
          </p:cNvPr>
          <p:cNvSpPr txBox="1"/>
          <p:nvPr/>
        </p:nvSpPr>
        <p:spPr>
          <a:xfrm>
            <a:off x="15011400" y="3162300"/>
            <a:ext cx="281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SHOWS EXPENSES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74ED0C4-0285-DE62-6757-706E5132CB03}"/>
              </a:ext>
            </a:extLst>
          </p:cNvPr>
          <p:cNvCxnSpPr/>
          <p:nvPr/>
        </p:nvCxnSpPr>
        <p:spPr>
          <a:xfrm flipH="1">
            <a:off x="12115800" y="3762464"/>
            <a:ext cx="2895600" cy="3209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864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380FCA-AC00-AFF8-C3AC-E48611627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0" y="256493"/>
            <a:ext cx="18119079" cy="9774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FCDDC0-671E-CFC7-2D53-56168C4B0960}"/>
              </a:ext>
            </a:extLst>
          </p:cNvPr>
          <p:cNvSpPr txBox="1"/>
          <p:nvPr/>
        </p:nvSpPr>
        <p:spPr>
          <a:xfrm>
            <a:off x="12192000" y="3573840"/>
            <a:ext cx="57528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CAN REQUEST AI BOT  </a:t>
            </a:r>
          </a:p>
          <a:p>
            <a:r>
              <a:rPr lang="en-IN" sz="3200" dirty="0"/>
              <a:t> REGARDING OUR SPENDINGS </a:t>
            </a:r>
          </a:p>
          <a:p>
            <a:r>
              <a:rPr lang="en-IN" sz="3200" dirty="0"/>
              <a:t>AND IT WILL ANSWER</a:t>
            </a:r>
          </a:p>
        </p:txBody>
      </p:sp>
    </p:spTree>
    <p:extLst>
      <p:ext uri="{BB962C8B-B14F-4D97-AF65-F5344CB8AC3E}">
        <p14:creationId xmlns:p14="http://schemas.microsoft.com/office/powerpoint/2010/main" val="3870189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283BF-90F5-FF09-C18B-6A33E4EF4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6" y="266019"/>
            <a:ext cx="18223868" cy="9754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2CB3C6-E23B-7E42-657D-AB5FFBD3A4A6}"/>
              </a:ext>
            </a:extLst>
          </p:cNvPr>
          <p:cNvSpPr txBox="1"/>
          <p:nvPr/>
        </p:nvSpPr>
        <p:spPr>
          <a:xfrm>
            <a:off x="14782800" y="2552700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GOAL TRACKER SYSTEM </a:t>
            </a:r>
          </a:p>
          <a:p>
            <a:r>
              <a:rPr lang="en-IN" dirty="0"/>
              <a:t>CAN ADD NEW GOALS BY CLICKING “NEW GOAL”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523E1B-89F2-88CF-9FBD-F7AE69BE6320}"/>
              </a:ext>
            </a:extLst>
          </p:cNvPr>
          <p:cNvCxnSpPr/>
          <p:nvPr/>
        </p:nvCxnSpPr>
        <p:spPr>
          <a:xfrm flipH="1" flipV="1">
            <a:off x="14135100" y="1820565"/>
            <a:ext cx="609600" cy="121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348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61A4B-1802-65E8-4EA1-F0E1D9FD5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34" y="294598"/>
            <a:ext cx="17957131" cy="969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495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A0E876-C088-BD2A-EE5F-559018AEE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45" y="299361"/>
            <a:ext cx="17985710" cy="96882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8E2DB8-918E-4F32-CDA2-A5F392114D7E}"/>
              </a:ext>
            </a:extLst>
          </p:cNvPr>
          <p:cNvSpPr txBox="1"/>
          <p:nvPr/>
        </p:nvSpPr>
        <p:spPr>
          <a:xfrm>
            <a:off x="14706600" y="4533900"/>
            <a:ext cx="266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GENERATE REPORTS REGARDING EXPENSES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18CE4D8-9317-F6A2-EDC4-4C176511F6F2}"/>
              </a:ext>
            </a:extLst>
          </p:cNvPr>
          <p:cNvCxnSpPr/>
          <p:nvPr/>
        </p:nvCxnSpPr>
        <p:spPr>
          <a:xfrm flipH="1">
            <a:off x="13868400" y="5295900"/>
            <a:ext cx="1143000" cy="304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930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040013-1094-A286-25EC-ED7D9E913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26A7B7-FF36-3FFF-0C54-83106DBBEFD9}"/>
              </a:ext>
            </a:extLst>
          </p:cNvPr>
          <p:cNvSpPr txBox="1"/>
          <p:nvPr/>
        </p:nvSpPr>
        <p:spPr>
          <a:xfrm>
            <a:off x="15392400" y="2628900"/>
            <a:ext cx="198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GENERATED REPORT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60A3AF-7C81-A8EB-B5EE-E71A4ED55435}"/>
              </a:ext>
            </a:extLst>
          </p:cNvPr>
          <p:cNvCxnSpPr/>
          <p:nvPr/>
        </p:nvCxnSpPr>
        <p:spPr>
          <a:xfrm flipH="1">
            <a:off x="14401800" y="2933700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996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80D30-56D2-DE26-6AAA-E7F07199D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010CA3-505B-EC3C-1538-9F36F7CABD25}"/>
              </a:ext>
            </a:extLst>
          </p:cNvPr>
          <p:cNvSpPr txBox="1"/>
          <p:nvPr/>
        </p:nvSpPr>
        <p:spPr>
          <a:xfrm>
            <a:off x="7505700" y="3438793"/>
            <a:ext cx="403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HAS THREE LANGUAGE SUPPORT </a:t>
            </a:r>
          </a:p>
          <a:p>
            <a:r>
              <a:rPr lang="en-IN" dirty="0"/>
              <a:t>-&gt;ENGLISH </a:t>
            </a:r>
          </a:p>
          <a:p>
            <a:r>
              <a:rPr lang="en-IN" dirty="0"/>
              <a:t>-&gt;HINDI</a:t>
            </a:r>
          </a:p>
          <a:p>
            <a:r>
              <a:rPr lang="en-IN" dirty="0"/>
              <a:t>-&gt;TAMIL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EC6C5E-590F-24F6-DCA0-A910EEBD8ACF}"/>
              </a:ext>
            </a:extLst>
          </p:cNvPr>
          <p:cNvCxnSpPr/>
          <p:nvPr/>
        </p:nvCxnSpPr>
        <p:spPr>
          <a:xfrm flipH="1">
            <a:off x="4114800" y="3924300"/>
            <a:ext cx="3124200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87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B33A8B-A50B-4298-A2D3-2ECD8504D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288000" cy="99638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B19253-04C0-1CB2-5C23-9B7AC8B0D962}"/>
              </a:ext>
            </a:extLst>
          </p:cNvPr>
          <p:cNvSpPr txBox="1"/>
          <p:nvPr/>
        </p:nvSpPr>
        <p:spPr>
          <a:xfrm>
            <a:off x="8382000" y="2552700"/>
            <a:ext cx="15279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HINDI</a:t>
            </a:r>
          </a:p>
        </p:txBody>
      </p:sp>
    </p:spTree>
    <p:extLst>
      <p:ext uri="{BB962C8B-B14F-4D97-AF65-F5344CB8AC3E}">
        <p14:creationId xmlns:p14="http://schemas.microsoft.com/office/powerpoint/2010/main" val="727253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ADA66C-3B03-B4BF-23D8-A955C2115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FBB3C9-DC84-2D5B-C705-05B741347AE8}"/>
              </a:ext>
            </a:extLst>
          </p:cNvPr>
          <p:cNvSpPr txBox="1"/>
          <p:nvPr/>
        </p:nvSpPr>
        <p:spPr>
          <a:xfrm>
            <a:off x="8534400" y="4457700"/>
            <a:ext cx="190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TAMIL</a:t>
            </a:r>
          </a:p>
        </p:txBody>
      </p:sp>
    </p:spTree>
    <p:extLst>
      <p:ext uri="{BB962C8B-B14F-4D97-AF65-F5344CB8AC3E}">
        <p14:creationId xmlns:p14="http://schemas.microsoft.com/office/powerpoint/2010/main" val="1004579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8C11-49C7-B772-F8BC-CE1B6F5460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4102F-D593-094F-A0C0-CC513E9E0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61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331</Words>
  <Application>Microsoft Office PowerPoint</Application>
  <PresentationFormat>Custom</PresentationFormat>
  <Paragraphs>70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Noto Serif Ethiopic Condensed Bold</vt:lpstr>
      <vt:lpstr>Calibri</vt:lpstr>
      <vt:lpstr>Arial</vt:lpstr>
      <vt:lpstr>Noto Serif Ethiopic Condensed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Comsci PPT</dc:title>
  <dc:creator>VIGNESH</dc:creator>
  <cp:lastModifiedBy>vignesh hari</cp:lastModifiedBy>
  <cp:revision>7</cp:revision>
  <dcterms:created xsi:type="dcterms:W3CDTF">2006-08-16T00:00:00Z</dcterms:created>
  <dcterms:modified xsi:type="dcterms:W3CDTF">2026-03-08T08:14:05Z</dcterms:modified>
  <dc:identifier>DAHDQd6AhFI</dc:identifier>
</cp:coreProperties>
</file>